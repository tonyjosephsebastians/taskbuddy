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TaskBuddy is a locally runnable FastAPI application with a React interface, deterministic tool routing, persistent chat threads, and an execution trace for every saved task. This five-minute walkthrough covers the product from both business and technical angles. I will show how a user accesses the app, how supported prompts are handled, how the architecture is organized, and how the supporting documentation pack helps explain the build.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user level, TaskBuddy behaves like a focused productivity workspace. A signed-in user creates a chat, enters a supported prompt, and receives a response card that shows the final output first, followed by the tool used, structured output, and a trace of the execution steps. That flow matters because it makes the app easy to understand for a business audience while still exposing enough detail for technical validation and manual testing.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has two roles: admin and user. The bootstrap admin can run tasks like any other user, but can also open the admin page to create or delete local accounts. Standard users can sign in, run supported tasks, and review their own thread history only. Authentication is cookie-based, thread APIs are protected, and the admin endpoints are restricted to the admin role, which keeps the local setup lightweight while still enforcing access boundaries.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fastest way to demo the product is to start at the login screen, sign in as admin, create a new chat, and submit a simple text-processing request such as converting quoted text to uppercase. After that, switch to a multi-tool request so the audience can see the numbered final output and the two-step trace. This slide is where I call out the response-card order, the saved-thread history, and the fact that the active chat automatically scrolls to new output.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TaskBuddy currently supports five tool families. Text processing handles case transforms and word or character counts. The calculator handles arithmetic expressions with natural-language operator phrases. The weather tool returns deterministic mock data for supported cities. The currency converter uses fixed rates for a small supported currency set. The transaction categorizer maps merchant descriptions to categories. The documentation pack includes sample prompts and manual tests so each tool can be validated quickly and consistently.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normal app usage, the project exposes one-command startup scripts for Windows and for Linux, macOS, WSL, or Git Bash. Docker and Docker Compose are also documented. For documentation generation, the setup is now intentionally isolated: the app runtime keeps its own requirements in `.venv`, while the documentation pack uses `.review-pack-venv` and `requirements-review-pack.txt`. That means presentation, DOCX, Playwright, and video dependencies never pollute the app runtime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technical perspective, FastAPI serves both the REST and SSE APIs and the built frontend. The route layer hands task execution to the `AgentController`, which stays stable as the API-facing facade. Under that layer, LangGraph manages the orchestration stages: validation, planning, tool execution, retry handling, and response assembly. The actual tool selection remains deterministic through the interpreter, which means the graph improves structure and traceability without turning the app into a black-box model planner.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ties the codebase back to the documentation. The `backend/` folder contains the FastAPI app, route definitions, persistence layer, safety checks, orchestration, and tool implementations. The `frontend/` folder contains the React app, API client, types, and tests. `docs/` holds the user guide, technical documentation, manual test plan, and demo script sources. `scripts/` holds the app launchers, report exporter, and documentation-pack generator. The technical document also lists the major endpoints and explains what each API exists to 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TaskBuddy includes automated backend and frontend coverage, plus exported evidence for review. Backend tests exercise the interpreter, controller, repository, tools, and API behavior. Frontend tests cover login, routing, thread limits, task-flow limits, auto-scroll, and admin interactions. JUnit XML outputs feed an HTML dashboard and an Excel summary, and the manual test plan adds tool-by-tool checks for local validation. Together, those assets make the product easier to assess from both correctness and presentation standpoints.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slide closes with current limits and realistic next steps. The tool set is intentionally challenge-scoped, weather and currency data are mock-based, and routing remains deterministic for explainability. With more time, the biggest improvement area would be model refinement and richer semantic routing while preserving trace clarity. Other next steps include more end-to-end browser automation, deeper component modularization on the frontend, and continued improvement of the documentation pack and narrated demo workflow.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955279" y="-731520"/>
            <a:ext cx="4023360" cy="4023360"/>
          </a:xfrm>
          <a:prstGeom prst="ellipse">
            <a:avLst/>
          </a:prstGeom>
          <a:solidFill>
            <a:srgbClr val="288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051560"/>
            <a:ext cx="822960" cy="201168"/>
          </a:xfrm>
          <a:prstGeom prst="roundRect">
            <a:avLst/>
          </a:prstGeom>
          <a:solidFill>
            <a:srgbClr val="DC9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5486400" cy="822960"/>
          </a:xfrm>
          <a:prstGeom prst="rect">
            <a:avLst/>
          </a:prstGeom>
          <a:noFill/>
        </p:spPr>
        <p:txBody>
          <a:bodyPr wrap="square" anchor="ctr">
            <a:spAutoFit/>
          </a:bodyPr>
          <a:lstStyle/>
          <a:p>
            <a:pPr algn="l">
              <a:defRPr sz="2800" b="1">
                <a:solidFill>
                  <a:srgbClr val="FFFFFF"/>
                </a:solidFill>
                <a:latin typeface="Segoe UI"/>
              </a:defRPr>
            </a:pPr>
            <a:r>
              <a:t>TaskBuddy</a:t>
            </a:r>
          </a:p>
        </p:txBody>
      </p:sp>
      <p:sp>
        <p:nvSpPr>
          <p:cNvPr id="6" name="TextBox 5"/>
          <p:cNvSpPr txBox="1"/>
          <p:nvPr/>
        </p:nvSpPr>
        <p:spPr>
          <a:xfrm>
            <a:off x="749808" y="2084831"/>
            <a:ext cx="5303520" cy="411480"/>
          </a:xfrm>
          <a:prstGeom prst="rect">
            <a:avLst/>
          </a:prstGeom>
          <a:noFill/>
        </p:spPr>
        <p:txBody>
          <a:bodyPr wrap="square" anchor="ctr">
            <a:spAutoFit/>
          </a:bodyPr>
          <a:lstStyle/>
          <a:p>
            <a:pPr algn="l">
              <a:defRPr sz="1500" b="0">
                <a:solidFill>
                  <a:srgbClr val="E2EBF4"/>
                </a:solidFill>
                <a:latin typeface="Segoe UI"/>
              </a:defRPr>
            </a:pPr>
            <a:r>
              <a:t>Product walkthrough, technical design, and documentation pack</a:t>
            </a:r>
          </a:p>
        </p:txBody>
      </p:sp>
      <p:sp>
        <p:nvSpPr>
          <p:cNvPr id="7" name="TextBox 6"/>
          <p:cNvSpPr txBox="1"/>
          <p:nvPr/>
        </p:nvSpPr>
        <p:spPr>
          <a:xfrm>
            <a:off x="749808" y="2578608"/>
            <a:ext cx="4572000" cy="320040"/>
          </a:xfrm>
          <a:prstGeom prst="rect">
            <a:avLst/>
          </a:prstGeom>
          <a:noFill/>
        </p:spPr>
        <p:txBody>
          <a:bodyPr wrap="square" anchor="ctr">
            <a:spAutoFit/>
          </a:bodyPr>
          <a:lstStyle/>
          <a:p>
            <a:pPr algn="l">
              <a:defRPr sz="1200" b="0">
                <a:solidFill>
                  <a:srgbClr val="E2EBF4"/>
                </a:solidFill>
                <a:latin typeface="Segoe UI"/>
              </a:defRPr>
            </a:pPr>
            <a:r>
              <a:t>Prepared by Tony Joseph Sebastian</a:t>
            </a:r>
          </a:p>
        </p:txBody>
      </p:sp>
      <p:sp>
        <p:nvSpPr>
          <p:cNvPr id="8" name="Rounded Rectangle 7"/>
          <p:cNvSpPr/>
          <p:nvPr/>
        </p:nvSpPr>
        <p:spPr>
          <a:xfrm>
            <a:off x="749808" y="3108960"/>
            <a:ext cx="4800600" cy="1965960"/>
          </a:xfrm>
          <a:prstGeom prst="roundRect">
            <a:avLst/>
          </a:prstGeom>
          <a:solidFill>
            <a:srgbClr val="E0F5F7"/>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t" wrap="square" lIns="164592" tIns="109728"/>
          <a:lstStyle/>
          <a:p>
            <a:pPr algn="l">
              <a:spcAft>
                <a:spcPts val="1000"/>
              </a:spcAft>
              <a:defRPr sz="1800">
                <a:solidFill>
                  <a:srgbClr val="3E4D5D"/>
                </a:solidFill>
                <a:latin typeface="Segoe UI"/>
              </a:defRPr>
            </a:pPr>
            <a:r>
              <a:t>FastAPI-served React workspace</a:t>
            </a:r>
          </a:p>
          <a:p>
            <a:pPr algn="l">
              <a:spcAft>
                <a:spcPts val="1000"/>
              </a:spcAft>
              <a:defRPr sz="1800">
                <a:solidFill>
                  <a:srgbClr val="3E4D5D"/>
                </a:solidFill>
                <a:latin typeface="Segoe UI"/>
              </a:defRPr>
            </a:pPr>
            <a:r>
              <a:t>Deterministic tools with LangGraph orchestration</a:t>
            </a:r>
          </a:p>
          <a:p>
            <a:pPr algn="l">
              <a:spcAft>
                <a:spcPts val="1000"/>
              </a:spcAft>
              <a:defRPr sz="1800">
                <a:solidFill>
                  <a:srgbClr val="3E4D5D"/>
                </a:solidFill>
                <a:latin typeface="Segoe UI"/>
              </a:defRPr>
            </a:pPr>
            <a:r>
              <a:t>Five-minute business and technical walkthrough</a:t>
            </a:r>
          </a:p>
        </p:txBody>
      </p:sp>
      <p:sp>
        <p:nvSpPr>
          <p:cNvPr id="9" name="Rounded Rectangle 8"/>
          <p:cNvSpPr/>
          <p:nvPr/>
        </p:nvSpPr>
        <p:spPr>
          <a:xfrm>
            <a:off x="6537960" y="1234440"/>
            <a:ext cx="4983480" cy="4389120"/>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workspace-home.png"/>
          <p:cNvPicPr>
            <a:picLocks noChangeAspect="1"/>
          </p:cNvPicPr>
          <p:nvPr/>
        </p:nvPicPr>
        <p:blipFill>
          <a:blip r:embed="rId2"/>
          <a:stretch>
            <a:fillRect/>
          </a:stretch>
        </p:blipFill>
        <p:spPr>
          <a:xfrm>
            <a:off x="6611112" y="1307592"/>
            <a:ext cx="4837176" cy="3913631"/>
          </a:xfrm>
          <a:prstGeom prst="rect">
            <a:avLst/>
          </a:prstGeom>
        </p:spPr>
      </p:pic>
      <p:sp>
        <p:nvSpPr>
          <p:cNvPr id="11" name="TextBox 10"/>
          <p:cNvSpPr txBox="1"/>
          <p:nvPr/>
        </p:nvSpPr>
        <p:spPr>
          <a:xfrm>
            <a:off x="6647688" y="5239512"/>
            <a:ext cx="4764024" cy="274320"/>
          </a:xfrm>
          <a:prstGeom prst="rect">
            <a:avLst/>
          </a:prstGeom>
          <a:noFill/>
        </p:spPr>
        <p:txBody>
          <a:bodyPr wrap="square" anchor="ctr">
            <a:spAutoFit/>
          </a:bodyPr>
          <a:lstStyle/>
          <a:p>
            <a:pPr algn="ctr">
              <a:defRPr sz="900" b="0">
                <a:solidFill>
                  <a:srgbClr val="3E4D5D"/>
                </a:solidFill>
                <a:latin typeface="Segoe UI"/>
              </a:defRPr>
            </a:pPr>
            <a:r>
              <a:t>Workspace home view</a:t>
            </a:r>
          </a:p>
        </p:txBody>
      </p:sp>
      <p:sp>
        <p:nvSpPr>
          <p:cNvPr id="12" name="TextBox 11"/>
          <p:cNvSpPr txBox="1"/>
          <p:nvPr/>
        </p:nvSpPr>
        <p:spPr>
          <a:xfrm>
            <a:off x="749808" y="5715000"/>
            <a:ext cx="6400800" cy="320040"/>
          </a:xfrm>
          <a:prstGeom prst="rect">
            <a:avLst/>
          </a:prstGeom>
          <a:noFill/>
        </p:spPr>
        <p:txBody>
          <a:bodyPr wrap="square" anchor="ctr">
            <a:spAutoFit/>
          </a:bodyPr>
          <a:lstStyle/>
          <a:p>
            <a:pPr algn="l">
              <a:defRPr sz="1000" b="0">
                <a:solidFill>
                  <a:srgbClr val="E2EBF4"/>
                </a:solidFill>
                <a:latin typeface="Segoe UI"/>
              </a:defRPr>
            </a:pPr>
            <a:r>
              <a:t>Generated from the repo sources and the local FastAPI-served UI.</a:t>
            </a:r>
          </a:p>
        </p:txBody>
      </p:sp>
      <p:sp>
        <p:nvSpPr>
          <p:cNvPr id="13" name="Rectangle 12"/>
          <p:cNvSpPr/>
          <p:nvPr/>
        </p:nvSpPr>
        <p:spPr>
          <a:xfrm>
            <a:off x="0" y="6510528"/>
            <a:ext cx="12191695" cy="34747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19672"/>
            <a:ext cx="3657600" cy="182880"/>
          </a:xfrm>
          <a:prstGeom prst="rect">
            <a:avLst/>
          </a:prstGeom>
          <a:noFill/>
        </p:spPr>
        <p:txBody>
          <a:bodyPr wrap="square" anchor="ctr">
            <a:spAutoFit/>
          </a:bodyPr>
          <a:lstStyle/>
          <a:p>
            <a:pPr algn="l">
              <a:defRPr sz="900" b="0">
                <a:solidFill>
                  <a:srgbClr val="FFFFFF"/>
                </a:solidFill>
                <a:latin typeface="Segoe UI"/>
              </a:defRPr>
            </a:pPr>
            <a:r>
              <a:t>TaskBuddy documentation pack</a:t>
            </a:r>
          </a:p>
        </p:txBody>
      </p:sp>
      <p:sp>
        <p:nvSpPr>
          <p:cNvPr id="15" name="TextBox 14"/>
          <p:cNvSpPr txBox="1"/>
          <p:nvPr/>
        </p:nvSpPr>
        <p:spPr>
          <a:xfrm>
            <a:off x="11292840" y="6519672"/>
            <a:ext cx="457200" cy="182880"/>
          </a:xfrm>
          <a:prstGeom prst="rect">
            <a:avLst/>
          </a:prstGeom>
          <a:noFill/>
        </p:spPr>
        <p:txBody>
          <a:bodyPr wrap="square" anchor="ctr">
            <a:spAutoFit/>
          </a:bodyPr>
          <a:lstStyle/>
          <a:p>
            <a:pPr algn="r">
              <a:defRPr sz="900" b="1">
                <a:solidFill>
                  <a:srgbClr val="FFFFFF"/>
                </a:solidFill>
                <a:latin typeface="Segoe U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3035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731520"/>
            <a:ext cx="411480" cy="411480"/>
          </a:xfrm>
          <a:prstGeom prst="ellipse">
            <a:avLst/>
          </a:prstGeom>
          <a:solidFill>
            <a:srgbClr val="DC9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713232"/>
            <a:ext cx="6400800" cy="502920"/>
          </a:xfrm>
          <a:prstGeom prst="rect">
            <a:avLst/>
          </a:prstGeom>
          <a:noFill/>
        </p:spPr>
        <p:txBody>
          <a:bodyPr wrap="square" anchor="ctr">
            <a:spAutoFit/>
          </a:bodyPr>
          <a:lstStyle/>
          <a:p>
            <a:pPr algn="l">
              <a:defRPr sz="2400" b="1">
                <a:solidFill>
                  <a:srgbClr val="102A43"/>
                </a:solidFill>
                <a:latin typeface="Segoe UI"/>
              </a:defRPr>
            </a:pPr>
            <a:r>
              <a:t>What TaskBuddy does</a:t>
            </a:r>
          </a:p>
        </p:txBody>
      </p:sp>
      <p:sp>
        <p:nvSpPr>
          <p:cNvPr id="6" name="TextBox 5"/>
          <p:cNvSpPr txBox="1"/>
          <p:nvPr/>
        </p:nvSpPr>
        <p:spPr>
          <a:xfrm>
            <a:off x="640080" y="1133856"/>
            <a:ext cx="1188720" cy="256032"/>
          </a:xfrm>
          <a:prstGeom prst="rect">
            <a:avLst/>
          </a:prstGeom>
          <a:noFill/>
        </p:spPr>
        <p:txBody>
          <a:bodyPr wrap="square" anchor="ctr">
            <a:spAutoFit/>
          </a:bodyPr>
          <a:lstStyle/>
          <a:p>
            <a:pPr algn="l">
              <a:defRPr sz="1000" b="1">
                <a:solidFill>
                  <a:srgbClr val="288691"/>
                </a:solidFill>
                <a:latin typeface="Segoe UI"/>
              </a:defRPr>
            </a:pPr>
            <a:r>
              <a:t>Target 20s</a:t>
            </a:r>
          </a:p>
        </p:txBody>
      </p:sp>
      <p:sp>
        <p:nvSpPr>
          <p:cNvPr id="7" name="Rounded Rectangle 6"/>
          <p:cNvSpPr/>
          <p:nvPr/>
        </p:nvSpPr>
        <p:spPr>
          <a:xfrm>
            <a:off x="621792" y="1554480"/>
            <a:ext cx="4983480" cy="4343400"/>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t" wrap="square" lIns="164592" tIns="109728"/>
          <a:lstStyle/>
          <a:p>
            <a:pPr algn="l">
              <a:spcAft>
                <a:spcPts val="1000"/>
              </a:spcAft>
              <a:defRPr sz="1800">
                <a:solidFill>
                  <a:srgbClr val="3E4D5D"/>
                </a:solidFill>
                <a:latin typeface="Segoe UI"/>
              </a:defRPr>
            </a:pPr>
            <a:r>
              <a:t>Signs users in with a cookie session</a:t>
            </a:r>
          </a:p>
          <a:p>
            <a:pPr algn="l">
              <a:spcAft>
                <a:spcPts val="1000"/>
              </a:spcAft>
              <a:defRPr sz="1800">
                <a:solidFill>
                  <a:srgbClr val="3E4D5D"/>
                </a:solidFill>
                <a:latin typeface="Segoe UI"/>
              </a:defRPr>
            </a:pPr>
            <a:r>
              <a:t>Lets each user create and revisit chat threads</a:t>
            </a:r>
          </a:p>
          <a:p>
            <a:pPr algn="l">
              <a:spcAft>
                <a:spcPts val="1000"/>
              </a:spcAft>
              <a:defRPr sz="1800">
                <a:solidFill>
                  <a:srgbClr val="3E4D5D"/>
                </a:solidFill>
                <a:latin typeface="Segoe UI"/>
              </a:defRPr>
            </a:pPr>
            <a:r>
              <a:t>Returns final output first with a visible execution trace</a:t>
            </a:r>
          </a:p>
        </p:txBody>
      </p:sp>
      <p:sp>
        <p:nvSpPr>
          <p:cNvPr id="8" name="Rounded Rectangle 7"/>
          <p:cNvSpPr/>
          <p:nvPr/>
        </p:nvSpPr>
        <p:spPr>
          <a:xfrm>
            <a:off x="5925312" y="1389888"/>
            <a:ext cx="5596128" cy="4553712"/>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mpleted-text-task.png"/>
          <p:cNvPicPr>
            <a:picLocks noChangeAspect="1"/>
          </p:cNvPicPr>
          <p:nvPr/>
        </p:nvPicPr>
        <p:blipFill>
          <a:blip r:embed="rId2"/>
          <a:stretch>
            <a:fillRect/>
          </a:stretch>
        </p:blipFill>
        <p:spPr>
          <a:xfrm>
            <a:off x="5998464" y="1463040"/>
            <a:ext cx="5449824" cy="4078224"/>
          </a:xfrm>
          <a:prstGeom prst="rect">
            <a:avLst/>
          </a:prstGeom>
        </p:spPr>
      </p:pic>
      <p:sp>
        <p:nvSpPr>
          <p:cNvPr id="10" name="TextBox 9"/>
          <p:cNvSpPr txBox="1"/>
          <p:nvPr/>
        </p:nvSpPr>
        <p:spPr>
          <a:xfrm>
            <a:off x="6035040" y="5559552"/>
            <a:ext cx="5376672" cy="274320"/>
          </a:xfrm>
          <a:prstGeom prst="rect">
            <a:avLst/>
          </a:prstGeom>
          <a:noFill/>
        </p:spPr>
        <p:txBody>
          <a:bodyPr wrap="square" anchor="ctr">
            <a:spAutoFit/>
          </a:bodyPr>
          <a:lstStyle/>
          <a:p>
            <a:pPr algn="ctr">
              <a:defRPr sz="900" b="0">
                <a:solidFill>
                  <a:srgbClr val="3E4D5D"/>
                </a:solidFill>
                <a:latin typeface="Segoe UI"/>
              </a:defRPr>
            </a:pPr>
            <a:r>
              <a:t>Completed text task</a:t>
            </a:r>
          </a:p>
        </p:txBody>
      </p:sp>
      <p:sp>
        <p:nvSpPr>
          <p:cNvPr id="11" name="Rectangle 10"/>
          <p:cNvSpPr/>
          <p:nvPr/>
        </p:nvSpPr>
        <p:spPr>
          <a:xfrm>
            <a:off x="0" y="6510528"/>
            <a:ext cx="12191695" cy="34747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519672"/>
            <a:ext cx="3657600" cy="182880"/>
          </a:xfrm>
          <a:prstGeom prst="rect">
            <a:avLst/>
          </a:prstGeom>
          <a:noFill/>
        </p:spPr>
        <p:txBody>
          <a:bodyPr wrap="square" anchor="ctr">
            <a:spAutoFit/>
          </a:bodyPr>
          <a:lstStyle/>
          <a:p>
            <a:pPr algn="l">
              <a:defRPr sz="900" b="0">
                <a:solidFill>
                  <a:srgbClr val="FFFFFF"/>
                </a:solidFill>
                <a:latin typeface="Segoe UI"/>
              </a:defRPr>
            </a:pPr>
            <a:r>
              <a:t>TaskBuddy documentation pack</a:t>
            </a:r>
          </a:p>
        </p:txBody>
      </p:sp>
      <p:sp>
        <p:nvSpPr>
          <p:cNvPr id="13" name="TextBox 12"/>
          <p:cNvSpPr txBox="1"/>
          <p:nvPr/>
        </p:nvSpPr>
        <p:spPr>
          <a:xfrm>
            <a:off x="11292840" y="6519672"/>
            <a:ext cx="457200" cy="182880"/>
          </a:xfrm>
          <a:prstGeom prst="rect">
            <a:avLst/>
          </a:prstGeom>
          <a:noFill/>
        </p:spPr>
        <p:txBody>
          <a:bodyPr wrap="square" anchor="ctr">
            <a:spAutoFit/>
          </a:bodyPr>
          <a:lstStyle/>
          <a:p>
            <a:pPr algn="r">
              <a:defRPr sz="900" b="1">
                <a:solidFill>
                  <a:srgbClr val="FFFFFF"/>
                </a:solidFill>
                <a:latin typeface="Segoe U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3035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731520"/>
            <a:ext cx="411480" cy="411480"/>
          </a:xfrm>
          <a:prstGeom prst="ellipse">
            <a:avLst/>
          </a:prstGeom>
          <a:solidFill>
            <a:srgbClr val="DC9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713232"/>
            <a:ext cx="6400800" cy="502920"/>
          </a:xfrm>
          <a:prstGeom prst="rect">
            <a:avLst/>
          </a:prstGeom>
          <a:noFill/>
        </p:spPr>
        <p:txBody>
          <a:bodyPr wrap="square" anchor="ctr">
            <a:spAutoFit/>
          </a:bodyPr>
          <a:lstStyle/>
          <a:p>
            <a:pPr algn="l">
              <a:defRPr sz="2400" b="1">
                <a:solidFill>
                  <a:srgbClr val="102A43"/>
                </a:solidFill>
                <a:latin typeface="Segoe UI"/>
              </a:defRPr>
            </a:pPr>
            <a:r>
              <a:t>Roles and protected access</a:t>
            </a:r>
          </a:p>
        </p:txBody>
      </p:sp>
      <p:sp>
        <p:nvSpPr>
          <p:cNvPr id="6" name="TextBox 5"/>
          <p:cNvSpPr txBox="1"/>
          <p:nvPr/>
        </p:nvSpPr>
        <p:spPr>
          <a:xfrm>
            <a:off x="640080" y="1133856"/>
            <a:ext cx="1188720" cy="256032"/>
          </a:xfrm>
          <a:prstGeom prst="rect">
            <a:avLst/>
          </a:prstGeom>
          <a:noFill/>
        </p:spPr>
        <p:txBody>
          <a:bodyPr wrap="square" anchor="ctr">
            <a:spAutoFit/>
          </a:bodyPr>
          <a:lstStyle/>
          <a:p>
            <a:pPr algn="l">
              <a:defRPr sz="1000" b="1">
                <a:solidFill>
                  <a:srgbClr val="288691"/>
                </a:solidFill>
                <a:latin typeface="Segoe UI"/>
              </a:defRPr>
            </a:pPr>
            <a:r>
              <a:t>Target 20s</a:t>
            </a:r>
          </a:p>
        </p:txBody>
      </p:sp>
      <p:sp>
        <p:nvSpPr>
          <p:cNvPr id="7" name="Rounded Rectangle 6"/>
          <p:cNvSpPr/>
          <p:nvPr/>
        </p:nvSpPr>
        <p:spPr>
          <a:xfrm>
            <a:off x="621792" y="1554480"/>
            <a:ext cx="4983480" cy="4343400"/>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t" wrap="square" lIns="164592" tIns="109728"/>
          <a:lstStyle/>
          <a:p>
            <a:pPr algn="l">
              <a:spcAft>
                <a:spcPts val="1000"/>
              </a:spcAft>
              <a:defRPr sz="1800">
                <a:solidFill>
                  <a:srgbClr val="3E4D5D"/>
                </a:solidFill>
                <a:latin typeface="Segoe UI"/>
              </a:defRPr>
            </a:pPr>
            <a:r>
              <a:t>Bootstrap admin manages local users</a:t>
            </a:r>
          </a:p>
          <a:p>
            <a:pPr algn="l">
              <a:spcAft>
                <a:spcPts val="1000"/>
              </a:spcAft>
              <a:defRPr sz="1800">
                <a:solidFill>
                  <a:srgbClr val="3E4D5D"/>
                </a:solidFill>
                <a:latin typeface="Segoe UI"/>
              </a:defRPr>
            </a:pPr>
            <a:r>
              <a:t>Standard users work only inside their own threads</a:t>
            </a:r>
          </a:p>
          <a:p>
            <a:pPr algn="l">
              <a:spcAft>
                <a:spcPts val="1000"/>
              </a:spcAft>
              <a:defRPr sz="1800">
                <a:solidFill>
                  <a:srgbClr val="3E4D5D"/>
                </a:solidFill>
                <a:latin typeface="Segoe UI"/>
              </a:defRPr>
            </a:pPr>
            <a:r>
              <a:t>Thread APIs require authentication and admin APIs require the admin role</a:t>
            </a:r>
          </a:p>
        </p:txBody>
      </p:sp>
      <p:sp>
        <p:nvSpPr>
          <p:cNvPr id="8" name="Rounded Rectangle 7"/>
          <p:cNvSpPr/>
          <p:nvPr/>
        </p:nvSpPr>
        <p:spPr>
          <a:xfrm>
            <a:off x="5925312" y="1389888"/>
            <a:ext cx="5596128" cy="4553712"/>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dmin-page.png"/>
          <p:cNvPicPr>
            <a:picLocks noChangeAspect="1"/>
          </p:cNvPicPr>
          <p:nvPr/>
        </p:nvPicPr>
        <p:blipFill>
          <a:blip r:embed="rId2"/>
          <a:stretch>
            <a:fillRect/>
          </a:stretch>
        </p:blipFill>
        <p:spPr>
          <a:xfrm>
            <a:off x="5998464" y="1463040"/>
            <a:ext cx="5449824" cy="4078224"/>
          </a:xfrm>
          <a:prstGeom prst="rect">
            <a:avLst/>
          </a:prstGeom>
        </p:spPr>
      </p:pic>
      <p:sp>
        <p:nvSpPr>
          <p:cNvPr id="10" name="TextBox 9"/>
          <p:cNvSpPr txBox="1"/>
          <p:nvPr/>
        </p:nvSpPr>
        <p:spPr>
          <a:xfrm>
            <a:off x="6035040" y="5559552"/>
            <a:ext cx="5376672" cy="274320"/>
          </a:xfrm>
          <a:prstGeom prst="rect">
            <a:avLst/>
          </a:prstGeom>
          <a:noFill/>
        </p:spPr>
        <p:txBody>
          <a:bodyPr wrap="square" anchor="ctr">
            <a:spAutoFit/>
          </a:bodyPr>
          <a:lstStyle/>
          <a:p>
            <a:pPr algn="ctr">
              <a:defRPr sz="900" b="0">
                <a:solidFill>
                  <a:srgbClr val="3E4D5D"/>
                </a:solidFill>
                <a:latin typeface="Segoe UI"/>
              </a:defRPr>
            </a:pPr>
            <a:r>
              <a:t>Admin user management page</a:t>
            </a:r>
          </a:p>
        </p:txBody>
      </p:sp>
      <p:sp>
        <p:nvSpPr>
          <p:cNvPr id="11" name="Rectangle 10"/>
          <p:cNvSpPr/>
          <p:nvPr/>
        </p:nvSpPr>
        <p:spPr>
          <a:xfrm>
            <a:off x="0" y="6510528"/>
            <a:ext cx="12191695" cy="34747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519672"/>
            <a:ext cx="3657600" cy="182880"/>
          </a:xfrm>
          <a:prstGeom prst="rect">
            <a:avLst/>
          </a:prstGeom>
          <a:noFill/>
        </p:spPr>
        <p:txBody>
          <a:bodyPr wrap="square" anchor="ctr">
            <a:spAutoFit/>
          </a:bodyPr>
          <a:lstStyle/>
          <a:p>
            <a:pPr algn="l">
              <a:defRPr sz="900" b="0">
                <a:solidFill>
                  <a:srgbClr val="FFFFFF"/>
                </a:solidFill>
                <a:latin typeface="Segoe UI"/>
              </a:defRPr>
            </a:pPr>
            <a:r>
              <a:t>TaskBuddy documentation pack</a:t>
            </a:r>
          </a:p>
        </p:txBody>
      </p:sp>
      <p:sp>
        <p:nvSpPr>
          <p:cNvPr id="13" name="TextBox 12"/>
          <p:cNvSpPr txBox="1"/>
          <p:nvPr/>
        </p:nvSpPr>
        <p:spPr>
          <a:xfrm>
            <a:off x="11292840" y="6519672"/>
            <a:ext cx="457200" cy="182880"/>
          </a:xfrm>
          <a:prstGeom prst="rect">
            <a:avLst/>
          </a:prstGeom>
          <a:noFill/>
        </p:spPr>
        <p:txBody>
          <a:bodyPr wrap="square" anchor="ctr">
            <a:spAutoFit/>
          </a:bodyPr>
          <a:lstStyle/>
          <a:p>
            <a:pPr algn="r">
              <a:defRPr sz="900" b="1">
                <a:solidFill>
                  <a:srgbClr val="FFFFFF"/>
                </a:solidFill>
                <a:latin typeface="Segoe U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3035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731520"/>
            <a:ext cx="411480" cy="411480"/>
          </a:xfrm>
          <a:prstGeom prst="ellipse">
            <a:avLst/>
          </a:prstGeom>
          <a:solidFill>
            <a:srgbClr val="DC9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713232"/>
            <a:ext cx="6400800" cy="502920"/>
          </a:xfrm>
          <a:prstGeom prst="rect">
            <a:avLst/>
          </a:prstGeom>
          <a:noFill/>
        </p:spPr>
        <p:txBody>
          <a:bodyPr wrap="square" anchor="ctr">
            <a:spAutoFit/>
          </a:bodyPr>
          <a:lstStyle/>
          <a:p>
            <a:pPr algn="l">
              <a:defRPr sz="2400" b="1">
                <a:solidFill>
                  <a:srgbClr val="102A43"/>
                </a:solidFill>
                <a:latin typeface="Segoe UI"/>
              </a:defRPr>
            </a:pPr>
            <a:r>
              <a:t>End-user workflow</a:t>
            </a:r>
          </a:p>
        </p:txBody>
      </p:sp>
      <p:sp>
        <p:nvSpPr>
          <p:cNvPr id="6" name="TextBox 5"/>
          <p:cNvSpPr txBox="1"/>
          <p:nvPr/>
        </p:nvSpPr>
        <p:spPr>
          <a:xfrm>
            <a:off x="640080" y="1133856"/>
            <a:ext cx="1188720" cy="256032"/>
          </a:xfrm>
          <a:prstGeom prst="rect">
            <a:avLst/>
          </a:prstGeom>
          <a:noFill/>
        </p:spPr>
        <p:txBody>
          <a:bodyPr wrap="square" anchor="ctr">
            <a:spAutoFit/>
          </a:bodyPr>
          <a:lstStyle/>
          <a:p>
            <a:pPr algn="l">
              <a:defRPr sz="1000" b="1">
                <a:solidFill>
                  <a:srgbClr val="288691"/>
                </a:solidFill>
                <a:latin typeface="Segoe UI"/>
              </a:defRPr>
            </a:pPr>
            <a:r>
              <a:t>Target 35s</a:t>
            </a:r>
          </a:p>
        </p:txBody>
      </p:sp>
      <p:sp>
        <p:nvSpPr>
          <p:cNvPr id="7" name="Rounded Rectangle 6"/>
          <p:cNvSpPr/>
          <p:nvPr/>
        </p:nvSpPr>
        <p:spPr>
          <a:xfrm>
            <a:off x="621792" y="1554480"/>
            <a:ext cx="4983480" cy="4343400"/>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t" wrap="square" lIns="164592" tIns="109728"/>
          <a:lstStyle/>
          <a:p>
            <a:pPr algn="l">
              <a:spcAft>
                <a:spcPts val="1000"/>
              </a:spcAft>
              <a:defRPr sz="1800">
                <a:solidFill>
                  <a:srgbClr val="3E4D5D"/>
                </a:solidFill>
                <a:latin typeface="Segoe UI"/>
              </a:defRPr>
            </a:pPr>
            <a:r>
              <a:t>Sign in, create a chat, and submit a supported prompt</a:t>
            </a:r>
          </a:p>
          <a:p>
            <a:pPr algn="l">
              <a:spcAft>
                <a:spcPts val="1000"/>
              </a:spcAft>
              <a:defRPr sz="1800">
                <a:solidFill>
                  <a:srgbClr val="3E4D5D"/>
                </a:solidFill>
                <a:latin typeface="Segoe UI"/>
              </a:defRPr>
            </a:pPr>
            <a:r>
              <a:t>Watch the response card update with final output, tools, structured data, and trace</a:t>
            </a:r>
          </a:p>
          <a:p>
            <a:pPr algn="l">
              <a:spcAft>
                <a:spcPts val="1000"/>
              </a:spcAft>
              <a:defRPr sz="1800">
                <a:solidFill>
                  <a:srgbClr val="3E4D5D"/>
                </a:solidFill>
                <a:latin typeface="Segoe UI"/>
              </a:defRPr>
            </a:pPr>
            <a:r>
              <a:t>Reopen history later from the thread sidebar</a:t>
            </a:r>
          </a:p>
        </p:txBody>
      </p:sp>
      <p:sp>
        <p:nvSpPr>
          <p:cNvPr id="8" name="Rounded Rectangle 7"/>
          <p:cNvSpPr/>
          <p:nvPr/>
        </p:nvSpPr>
        <p:spPr>
          <a:xfrm>
            <a:off x="5925312" y="1389888"/>
            <a:ext cx="5596128" cy="4553712"/>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ulti-tool-trace.png"/>
          <p:cNvPicPr>
            <a:picLocks noChangeAspect="1"/>
          </p:cNvPicPr>
          <p:nvPr/>
        </p:nvPicPr>
        <p:blipFill>
          <a:blip r:embed="rId2"/>
          <a:stretch>
            <a:fillRect/>
          </a:stretch>
        </p:blipFill>
        <p:spPr>
          <a:xfrm>
            <a:off x="5998464" y="1463040"/>
            <a:ext cx="5449824" cy="4078224"/>
          </a:xfrm>
          <a:prstGeom prst="rect">
            <a:avLst/>
          </a:prstGeom>
        </p:spPr>
      </p:pic>
      <p:sp>
        <p:nvSpPr>
          <p:cNvPr id="10" name="TextBox 9"/>
          <p:cNvSpPr txBox="1"/>
          <p:nvPr/>
        </p:nvSpPr>
        <p:spPr>
          <a:xfrm>
            <a:off x="6035040" y="5559552"/>
            <a:ext cx="5376672" cy="274320"/>
          </a:xfrm>
          <a:prstGeom prst="rect">
            <a:avLst/>
          </a:prstGeom>
          <a:noFill/>
        </p:spPr>
        <p:txBody>
          <a:bodyPr wrap="square" anchor="ctr">
            <a:spAutoFit/>
          </a:bodyPr>
          <a:lstStyle/>
          <a:p>
            <a:pPr algn="ctr">
              <a:defRPr sz="900" b="0">
                <a:solidFill>
                  <a:srgbClr val="3E4D5D"/>
                </a:solidFill>
                <a:latin typeface="Segoe UI"/>
              </a:defRPr>
            </a:pPr>
            <a:r>
              <a:t>Multi-tool response and trace</a:t>
            </a:r>
          </a:p>
        </p:txBody>
      </p:sp>
      <p:sp>
        <p:nvSpPr>
          <p:cNvPr id="11" name="Rectangle 10"/>
          <p:cNvSpPr/>
          <p:nvPr/>
        </p:nvSpPr>
        <p:spPr>
          <a:xfrm>
            <a:off x="0" y="6510528"/>
            <a:ext cx="12191695" cy="34747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519672"/>
            <a:ext cx="3657600" cy="182880"/>
          </a:xfrm>
          <a:prstGeom prst="rect">
            <a:avLst/>
          </a:prstGeom>
          <a:noFill/>
        </p:spPr>
        <p:txBody>
          <a:bodyPr wrap="square" anchor="ctr">
            <a:spAutoFit/>
          </a:bodyPr>
          <a:lstStyle/>
          <a:p>
            <a:pPr algn="l">
              <a:defRPr sz="900" b="0">
                <a:solidFill>
                  <a:srgbClr val="FFFFFF"/>
                </a:solidFill>
                <a:latin typeface="Segoe UI"/>
              </a:defRPr>
            </a:pPr>
            <a:r>
              <a:t>TaskBuddy documentation pack</a:t>
            </a:r>
          </a:p>
        </p:txBody>
      </p:sp>
      <p:sp>
        <p:nvSpPr>
          <p:cNvPr id="13" name="TextBox 12"/>
          <p:cNvSpPr txBox="1"/>
          <p:nvPr/>
        </p:nvSpPr>
        <p:spPr>
          <a:xfrm>
            <a:off x="11292840" y="6519672"/>
            <a:ext cx="457200" cy="182880"/>
          </a:xfrm>
          <a:prstGeom prst="rect">
            <a:avLst/>
          </a:prstGeom>
          <a:noFill/>
        </p:spPr>
        <p:txBody>
          <a:bodyPr wrap="square" anchor="ctr">
            <a:spAutoFit/>
          </a:bodyPr>
          <a:lstStyle/>
          <a:p>
            <a:pPr algn="r">
              <a:defRPr sz="900" b="1">
                <a:solidFill>
                  <a:srgbClr val="FFFFFF"/>
                </a:solidFill>
                <a:latin typeface="Segoe U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3035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731520"/>
            <a:ext cx="411480" cy="411480"/>
          </a:xfrm>
          <a:prstGeom prst="ellipse">
            <a:avLst/>
          </a:prstGeom>
          <a:solidFill>
            <a:srgbClr val="DC9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713232"/>
            <a:ext cx="6400800" cy="502920"/>
          </a:xfrm>
          <a:prstGeom prst="rect">
            <a:avLst/>
          </a:prstGeom>
          <a:noFill/>
        </p:spPr>
        <p:txBody>
          <a:bodyPr wrap="square" anchor="ctr">
            <a:spAutoFit/>
          </a:bodyPr>
          <a:lstStyle/>
          <a:p>
            <a:pPr algn="l">
              <a:defRPr sz="2400" b="1">
                <a:solidFill>
                  <a:srgbClr val="102A43"/>
                </a:solidFill>
                <a:latin typeface="Segoe UI"/>
              </a:defRPr>
            </a:pPr>
            <a:r>
              <a:t>Tool catalog and sample prompts</a:t>
            </a:r>
          </a:p>
        </p:txBody>
      </p:sp>
      <p:sp>
        <p:nvSpPr>
          <p:cNvPr id="6" name="TextBox 5"/>
          <p:cNvSpPr txBox="1"/>
          <p:nvPr/>
        </p:nvSpPr>
        <p:spPr>
          <a:xfrm>
            <a:off x="640080" y="1133856"/>
            <a:ext cx="1188720" cy="256032"/>
          </a:xfrm>
          <a:prstGeom prst="rect">
            <a:avLst/>
          </a:prstGeom>
          <a:noFill/>
        </p:spPr>
        <p:txBody>
          <a:bodyPr wrap="square" anchor="ctr">
            <a:spAutoFit/>
          </a:bodyPr>
          <a:lstStyle/>
          <a:p>
            <a:pPr algn="l">
              <a:defRPr sz="1000" b="1">
                <a:solidFill>
                  <a:srgbClr val="288691"/>
                </a:solidFill>
                <a:latin typeface="Segoe UI"/>
              </a:defRPr>
            </a:pPr>
            <a:r>
              <a:t>Target 35s</a:t>
            </a:r>
          </a:p>
        </p:txBody>
      </p:sp>
      <p:sp>
        <p:nvSpPr>
          <p:cNvPr id="7" name="Rounded Rectangle 6"/>
          <p:cNvSpPr/>
          <p:nvPr/>
        </p:nvSpPr>
        <p:spPr>
          <a:xfrm>
            <a:off x="621792" y="1554480"/>
            <a:ext cx="4983480" cy="4343400"/>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t" wrap="square" lIns="164592" tIns="109728"/>
          <a:lstStyle/>
          <a:p>
            <a:pPr algn="l">
              <a:spcAft>
                <a:spcPts val="1000"/>
              </a:spcAft>
              <a:defRPr sz="1800">
                <a:solidFill>
                  <a:srgbClr val="3E4D5D"/>
                </a:solidFill>
                <a:latin typeface="Segoe UI"/>
              </a:defRPr>
            </a:pPr>
            <a:r>
              <a:t>Text processing, calculator, mock weather, currency conversion, and transaction categorization</a:t>
            </a:r>
          </a:p>
          <a:p>
            <a:pPr algn="l">
              <a:spcAft>
                <a:spcPts val="1000"/>
              </a:spcAft>
              <a:defRPr sz="1800">
                <a:solidFill>
                  <a:srgbClr val="3E4D5D"/>
                </a:solidFill>
                <a:latin typeface="Segoe UI"/>
              </a:defRPr>
            </a:pPr>
            <a:r>
              <a:t>Prompt routing is deterministic and documented in the technical guide</a:t>
            </a:r>
          </a:p>
          <a:p>
            <a:pPr algn="l">
              <a:spcAft>
                <a:spcPts val="1000"/>
              </a:spcAft>
              <a:defRPr sz="1800">
                <a:solidFill>
                  <a:srgbClr val="3E4D5D"/>
                </a:solidFill>
                <a:latin typeface="Segoe UI"/>
              </a:defRPr>
            </a:pPr>
            <a:r>
              <a:t>Manual test cases are included for every tool family</a:t>
            </a:r>
          </a:p>
        </p:txBody>
      </p:sp>
      <p:sp>
        <p:nvSpPr>
          <p:cNvPr id="8" name="Rounded Rectangle 7"/>
          <p:cNvSpPr/>
          <p:nvPr/>
        </p:nvSpPr>
        <p:spPr>
          <a:xfrm>
            <a:off x="5925312" y="1389888"/>
            <a:ext cx="5596128" cy="4553712"/>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alidation-example.png"/>
          <p:cNvPicPr>
            <a:picLocks noChangeAspect="1"/>
          </p:cNvPicPr>
          <p:nvPr/>
        </p:nvPicPr>
        <p:blipFill>
          <a:blip r:embed="rId2"/>
          <a:stretch>
            <a:fillRect/>
          </a:stretch>
        </p:blipFill>
        <p:spPr>
          <a:xfrm>
            <a:off x="5998464" y="1463040"/>
            <a:ext cx="5449824" cy="4078224"/>
          </a:xfrm>
          <a:prstGeom prst="rect">
            <a:avLst/>
          </a:prstGeom>
        </p:spPr>
      </p:pic>
      <p:sp>
        <p:nvSpPr>
          <p:cNvPr id="10" name="TextBox 9"/>
          <p:cNvSpPr txBox="1"/>
          <p:nvPr/>
        </p:nvSpPr>
        <p:spPr>
          <a:xfrm>
            <a:off x="6035040" y="5559552"/>
            <a:ext cx="5376672" cy="274320"/>
          </a:xfrm>
          <a:prstGeom prst="rect">
            <a:avLst/>
          </a:prstGeom>
          <a:noFill/>
        </p:spPr>
        <p:txBody>
          <a:bodyPr wrap="square" anchor="ctr">
            <a:spAutoFit/>
          </a:bodyPr>
          <a:lstStyle/>
          <a:p>
            <a:pPr algn="ctr">
              <a:defRPr sz="900" b="0">
                <a:solidFill>
                  <a:srgbClr val="3E4D5D"/>
                </a:solidFill>
                <a:latin typeface="Segoe UI"/>
              </a:defRPr>
            </a:pPr>
            <a:r>
              <a:t>Validation example</a:t>
            </a:r>
          </a:p>
        </p:txBody>
      </p:sp>
      <p:sp>
        <p:nvSpPr>
          <p:cNvPr id="11" name="Rectangle 10"/>
          <p:cNvSpPr/>
          <p:nvPr/>
        </p:nvSpPr>
        <p:spPr>
          <a:xfrm>
            <a:off x="0" y="6510528"/>
            <a:ext cx="12191695" cy="34747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519672"/>
            <a:ext cx="3657600" cy="182880"/>
          </a:xfrm>
          <a:prstGeom prst="rect">
            <a:avLst/>
          </a:prstGeom>
          <a:noFill/>
        </p:spPr>
        <p:txBody>
          <a:bodyPr wrap="square" anchor="ctr">
            <a:spAutoFit/>
          </a:bodyPr>
          <a:lstStyle/>
          <a:p>
            <a:pPr algn="l">
              <a:defRPr sz="900" b="0">
                <a:solidFill>
                  <a:srgbClr val="FFFFFF"/>
                </a:solidFill>
                <a:latin typeface="Segoe UI"/>
              </a:defRPr>
            </a:pPr>
            <a:r>
              <a:t>TaskBuddy documentation pack</a:t>
            </a:r>
          </a:p>
        </p:txBody>
      </p:sp>
      <p:sp>
        <p:nvSpPr>
          <p:cNvPr id="13" name="TextBox 12"/>
          <p:cNvSpPr txBox="1"/>
          <p:nvPr/>
        </p:nvSpPr>
        <p:spPr>
          <a:xfrm>
            <a:off x="11292840" y="6519672"/>
            <a:ext cx="457200" cy="182880"/>
          </a:xfrm>
          <a:prstGeom prst="rect">
            <a:avLst/>
          </a:prstGeom>
          <a:noFill/>
        </p:spPr>
        <p:txBody>
          <a:bodyPr wrap="square" anchor="ctr">
            <a:spAutoFit/>
          </a:bodyPr>
          <a:lstStyle/>
          <a:p>
            <a:pPr algn="r">
              <a:defRPr sz="900" b="1">
                <a:solidFill>
                  <a:srgbClr val="FFFFFF"/>
                </a:solidFill>
                <a:latin typeface="Segoe U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3035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731520"/>
            <a:ext cx="411480" cy="411480"/>
          </a:xfrm>
          <a:prstGeom prst="ellipse">
            <a:avLst/>
          </a:prstGeom>
          <a:solidFill>
            <a:srgbClr val="DC9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713232"/>
            <a:ext cx="6400800" cy="502920"/>
          </a:xfrm>
          <a:prstGeom prst="rect">
            <a:avLst/>
          </a:prstGeom>
          <a:noFill/>
        </p:spPr>
        <p:txBody>
          <a:bodyPr wrap="square" anchor="ctr">
            <a:spAutoFit/>
          </a:bodyPr>
          <a:lstStyle/>
          <a:p>
            <a:pPr algn="l">
              <a:defRPr sz="2400" b="1">
                <a:solidFill>
                  <a:srgbClr val="102A43"/>
                </a:solidFill>
                <a:latin typeface="Segoe UI"/>
              </a:defRPr>
            </a:pPr>
            <a:r>
              <a:t>Access and run options</a:t>
            </a:r>
          </a:p>
        </p:txBody>
      </p:sp>
      <p:sp>
        <p:nvSpPr>
          <p:cNvPr id="6" name="TextBox 5"/>
          <p:cNvSpPr txBox="1"/>
          <p:nvPr/>
        </p:nvSpPr>
        <p:spPr>
          <a:xfrm>
            <a:off x="640080" y="1133856"/>
            <a:ext cx="1188720" cy="256032"/>
          </a:xfrm>
          <a:prstGeom prst="rect">
            <a:avLst/>
          </a:prstGeom>
          <a:noFill/>
        </p:spPr>
        <p:txBody>
          <a:bodyPr wrap="square" anchor="ctr">
            <a:spAutoFit/>
          </a:bodyPr>
          <a:lstStyle/>
          <a:p>
            <a:pPr algn="l">
              <a:defRPr sz="1000" b="1">
                <a:solidFill>
                  <a:srgbClr val="288691"/>
                </a:solidFill>
                <a:latin typeface="Segoe UI"/>
              </a:defRPr>
            </a:pPr>
            <a:r>
              <a:t>Target 30s</a:t>
            </a:r>
          </a:p>
        </p:txBody>
      </p:sp>
      <p:sp>
        <p:nvSpPr>
          <p:cNvPr id="7" name="Rounded Rectangle 6"/>
          <p:cNvSpPr/>
          <p:nvPr/>
        </p:nvSpPr>
        <p:spPr>
          <a:xfrm>
            <a:off x="621792" y="1554480"/>
            <a:ext cx="4983480" cy="4343400"/>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t" wrap="square" lIns="164592" tIns="109728"/>
          <a:lstStyle/>
          <a:p>
            <a:pPr algn="l">
              <a:spcAft>
                <a:spcPts val="1000"/>
              </a:spcAft>
              <a:defRPr sz="1800">
                <a:solidFill>
                  <a:srgbClr val="3E4D5D"/>
                </a:solidFill>
                <a:latin typeface="Segoe UI"/>
              </a:defRPr>
            </a:pPr>
            <a:r>
              <a:t>Run the app locally with one command from scripts/run-taskbuddy</a:t>
            </a:r>
          </a:p>
          <a:p>
            <a:pPr algn="l">
              <a:spcAft>
                <a:spcPts val="1000"/>
              </a:spcAft>
              <a:defRPr sz="1800">
                <a:solidFill>
                  <a:srgbClr val="3E4D5D"/>
                </a:solidFill>
                <a:latin typeface="Segoe UI"/>
              </a:defRPr>
            </a:pPr>
            <a:r>
              <a:t>Use Docker or Docker Compose when preferred</a:t>
            </a:r>
          </a:p>
          <a:p>
            <a:pPr algn="l">
              <a:spcAft>
                <a:spcPts val="1000"/>
              </a:spcAft>
              <a:defRPr sz="1800">
                <a:solidFill>
                  <a:srgbClr val="3E4D5D"/>
                </a:solidFill>
                <a:latin typeface="Segoe UI"/>
              </a:defRPr>
            </a:pPr>
            <a:r>
              <a:t>Build the documentation pack separately with its own .review-pack-venv</a:t>
            </a:r>
          </a:p>
        </p:txBody>
      </p:sp>
      <p:sp>
        <p:nvSpPr>
          <p:cNvPr id="8" name="Rounded Rectangle 7"/>
          <p:cNvSpPr/>
          <p:nvPr/>
        </p:nvSpPr>
        <p:spPr>
          <a:xfrm>
            <a:off x="5925312" y="1389888"/>
            <a:ext cx="5596128" cy="4553712"/>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ogin-page.png"/>
          <p:cNvPicPr>
            <a:picLocks noChangeAspect="1"/>
          </p:cNvPicPr>
          <p:nvPr/>
        </p:nvPicPr>
        <p:blipFill>
          <a:blip r:embed="rId2"/>
          <a:stretch>
            <a:fillRect/>
          </a:stretch>
        </p:blipFill>
        <p:spPr>
          <a:xfrm>
            <a:off x="5998464" y="1463040"/>
            <a:ext cx="5449824" cy="4078224"/>
          </a:xfrm>
          <a:prstGeom prst="rect">
            <a:avLst/>
          </a:prstGeom>
        </p:spPr>
      </p:pic>
      <p:sp>
        <p:nvSpPr>
          <p:cNvPr id="10" name="TextBox 9"/>
          <p:cNvSpPr txBox="1"/>
          <p:nvPr/>
        </p:nvSpPr>
        <p:spPr>
          <a:xfrm>
            <a:off x="6035040" y="5559552"/>
            <a:ext cx="5376672" cy="274320"/>
          </a:xfrm>
          <a:prstGeom prst="rect">
            <a:avLst/>
          </a:prstGeom>
          <a:noFill/>
        </p:spPr>
        <p:txBody>
          <a:bodyPr wrap="square" anchor="ctr">
            <a:spAutoFit/>
          </a:bodyPr>
          <a:lstStyle/>
          <a:p>
            <a:pPr algn="ctr">
              <a:defRPr sz="900" b="0">
                <a:solidFill>
                  <a:srgbClr val="3E4D5D"/>
                </a:solidFill>
                <a:latin typeface="Segoe UI"/>
              </a:defRPr>
            </a:pPr>
            <a:r>
              <a:t>Sign-in screen</a:t>
            </a:r>
          </a:p>
        </p:txBody>
      </p:sp>
      <p:sp>
        <p:nvSpPr>
          <p:cNvPr id="11" name="Rectangle 10"/>
          <p:cNvSpPr/>
          <p:nvPr/>
        </p:nvSpPr>
        <p:spPr>
          <a:xfrm>
            <a:off x="0" y="6510528"/>
            <a:ext cx="12191695" cy="34747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519672"/>
            <a:ext cx="3657600" cy="182880"/>
          </a:xfrm>
          <a:prstGeom prst="rect">
            <a:avLst/>
          </a:prstGeom>
          <a:noFill/>
        </p:spPr>
        <p:txBody>
          <a:bodyPr wrap="square" anchor="ctr">
            <a:spAutoFit/>
          </a:bodyPr>
          <a:lstStyle/>
          <a:p>
            <a:pPr algn="l">
              <a:defRPr sz="900" b="0">
                <a:solidFill>
                  <a:srgbClr val="FFFFFF"/>
                </a:solidFill>
                <a:latin typeface="Segoe UI"/>
              </a:defRPr>
            </a:pPr>
            <a:r>
              <a:t>TaskBuddy documentation pack</a:t>
            </a:r>
          </a:p>
        </p:txBody>
      </p:sp>
      <p:sp>
        <p:nvSpPr>
          <p:cNvPr id="13" name="TextBox 12"/>
          <p:cNvSpPr txBox="1"/>
          <p:nvPr/>
        </p:nvSpPr>
        <p:spPr>
          <a:xfrm>
            <a:off x="11292840" y="6519672"/>
            <a:ext cx="457200" cy="182880"/>
          </a:xfrm>
          <a:prstGeom prst="rect">
            <a:avLst/>
          </a:prstGeom>
          <a:noFill/>
        </p:spPr>
        <p:txBody>
          <a:bodyPr wrap="square" anchor="ctr">
            <a:spAutoFit/>
          </a:bodyPr>
          <a:lstStyle/>
          <a:p>
            <a:pPr algn="r">
              <a:defRPr sz="900" b="1">
                <a:solidFill>
                  <a:srgbClr val="FFFFFF"/>
                </a:solidFill>
                <a:latin typeface="Segoe U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3035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731520"/>
            <a:ext cx="411480" cy="411480"/>
          </a:xfrm>
          <a:prstGeom prst="ellipse">
            <a:avLst/>
          </a:prstGeom>
          <a:solidFill>
            <a:srgbClr val="DC9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713232"/>
            <a:ext cx="6400800" cy="502920"/>
          </a:xfrm>
          <a:prstGeom prst="rect">
            <a:avLst/>
          </a:prstGeom>
          <a:noFill/>
        </p:spPr>
        <p:txBody>
          <a:bodyPr wrap="square" anchor="ctr">
            <a:spAutoFit/>
          </a:bodyPr>
          <a:lstStyle/>
          <a:p>
            <a:pPr algn="l">
              <a:defRPr sz="2400" b="1">
                <a:solidFill>
                  <a:srgbClr val="102A43"/>
                </a:solidFill>
                <a:latin typeface="Segoe UI"/>
              </a:defRPr>
            </a:pPr>
            <a:r>
              <a:t>Architecture and LangGraph orchestration</a:t>
            </a:r>
          </a:p>
        </p:txBody>
      </p:sp>
      <p:sp>
        <p:nvSpPr>
          <p:cNvPr id="6" name="TextBox 5"/>
          <p:cNvSpPr txBox="1"/>
          <p:nvPr/>
        </p:nvSpPr>
        <p:spPr>
          <a:xfrm>
            <a:off x="640080" y="1133856"/>
            <a:ext cx="1188720" cy="256032"/>
          </a:xfrm>
          <a:prstGeom prst="rect">
            <a:avLst/>
          </a:prstGeom>
          <a:noFill/>
        </p:spPr>
        <p:txBody>
          <a:bodyPr wrap="square" anchor="ctr">
            <a:spAutoFit/>
          </a:bodyPr>
          <a:lstStyle/>
          <a:p>
            <a:pPr algn="l">
              <a:defRPr sz="1000" b="1">
                <a:solidFill>
                  <a:srgbClr val="288691"/>
                </a:solidFill>
                <a:latin typeface="Segoe UI"/>
              </a:defRPr>
            </a:pPr>
            <a:r>
              <a:t>Target 35s</a:t>
            </a:r>
          </a:p>
        </p:txBody>
      </p:sp>
      <p:sp>
        <p:nvSpPr>
          <p:cNvPr id="7" name="Rounded Rectangle 6"/>
          <p:cNvSpPr/>
          <p:nvPr/>
        </p:nvSpPr>
        <p:spPr>
          <a:xfrm>
            <a:off x="621792" y="1554480"/>
            <a:ext cx="4983480" cy="4343400"/>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t" wrap="square" lIns="164592" tIns="109728"/>
          <a:lstStyle/>
          <a:p>
            <a:pPr algn="l">
              <a:spcAft>
                <a:spcPts val="1000"/>
              </a:spcAft>
              <a:defRPr sz="1800">
                <a:solidFill>
                  <a:srgbClr val="3E4D5D"/>
                </a:solidFill>
                <a:latin typeface="Segoe UI"/>
              </a:defRPr>
            </a:pPr>
            <a:r>
              <a:t>FastAPI serves both the API and the built frontend</a:t>
            </a:r>
          </a:p>
          <a:p>
            <a:pPr algn="l">
              <a:spcAft>
                <a:spcPts val="1000"/>
              </a:spcAft>
              <a:defRPr sz="1800">
                <a:solidFill>
                  <a:srgbClr val="3E4D5D"/>
                </a:solidFill>
                <a:latin typeface="Segoe UI"/>
              </a:defRPr>
            </a:pPr>
            <a:r>
              <a:t>AgentController keeps a stable contract for the route layer</a:t>
            </a:r>
          </a:p>
          <a:p>
            <a:pPr algn="l">
              <a:spcAft>
                <a:spcPts val="1000"/>
              </a:spcAft>
              <a:defRPr sz="1800">
                <a:solidFill>
                  <a:srgbClr val="3E4D5D"/>
                </a:solidFill>
                <a:latin typeface="Segoe UI"/>
              </a:defRPr>
            </a:pPr>
            <a:r>
              <a:t>LangGraph drives validation, planning, tool execution, retry, and response assembly</a:t>
            </a:r>
          </a:p>
        </p:txBody>
      </p:sp>
      <p:sp>
        <p:nvSpPr>
          <p:cNvPr id="8" name="Rounded Rectangle 7"/>
          <p:cNvSpPr/>
          <p:nvPr/>
        </p:nvSpPr>
        <p:spPr>
          <a:xfrm>
            <a:off x="5925312" y="1389888"/>
            <a:ext cx="5596128" cy="4553712"/>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rchitecture-overview.png"/>
          <p:cNvPicPr>
            <a:picLocks noChangeAspect="1"/>
          </p:cNvPicPr>
          <p:nvPr/>
        </p:nvPicPr>
        <p:blipFill>
          <a:blip r:embed="rId2"/>
          <a:stretch>
            <a:fillRect/>
          </a:stretch>
        </p:blipFill>
        <p:spPr>
          <a:xfrm>
            <a:off x="5998464" y="1463040"/>
            <a:ext cx="5449824" cy="4078224"/>
          </a:xfrm>
          <a:prstGeom prst="rect">
            <a:avLst/>
          </a:prstGeom>
        </p:spPr>
      </p:pic>
      <p:sp>
        <p:nvSpPr>
          <p:cNvPr id="10" name="TextBox 9"/>
          <p:cNvSpPr txBox="1"/>
          <p:nvPr/>
        </p:nvSpPr>
        <p:spPr>
          <a:xfrm>
            <a:off x="6035040" y="5559552"/>
            <a:ext cx="5376672" cy="274320"/>
          </a:xfrm>
          <a:prstGeom prst="rect">
            <a:avLst/>
          </a:prstGeom>
          <a:noFill/>
        </p:spPr>
        <p:txBody>
          <a:bodyPr wrap="square" anchor="ctr">
            <a:spAutoFit/>
          </a:bodyPr>
          <a:lstStyle/>
          <a:p>
            <a:pPr algn="ctr">
              <a:defRPr sz="900" b="0">
                <a:solidFill>
                  <a:srgbClr val="3E4D5D"/>
                </a:solidFill>
                <a:latin typeface="Segoe UI"/>
              </a:defRPr>
            </a:pPr>
            <a:r>
              <a:t>Architecture overview</a:t>
            </a:r>
          </a:p>
        </p:txBody>
      </p:sp>
      <p:sp>
        <p:nvSpPr>
          <p:cNvPr id="11" name="Rectangle 10"/>
          <p:cNvSpPr/>
          <p:nvPr/>
        </p:nvSpPr>
        <p:spPr>
          <a:xfrm>
            <a:off x="0" y="6510528"/>
            <a:ext cx="12191695" cy="34747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519672"/>
            <a:ext cx="3657600" cy="182880"/>
          </a:xfrm>
          <a:prstGeom prst="rect">
            <a:avLst/>
          </a:prstGeom>
          <a:noFill/>
        </p:spPr>
        <p:txBody>
          <a:bodyPr wrap="square" anchor="ctr">
            <a:spAutoFit/>
          </a:bodyPr>
          <a:lstStyle/>
          <a:p>
            <a:pPr algn="l">
              <a:defRPr sz="900" b="0">
                <a:solidFill>
                  <a:srgbClr val="FFFFFF"/>
                </a:solidFill>
                <a:latin typeface="Segoe UI"/>
              </a:defRPr>
            </a:pPr>
            <a:r>
              <a:t>TaskBuddy documentation pack</a:t>
            </a:r>
          </a:p>
        </p:txBody>
      </p:sp>
      <p:sp>
        <p:nvSpPr>
          <p:cNvPr id="13" name="TextBox 12"/>
          <p:cNvSpPr txBox="1"/>
          <p:nvPr/>
        </p:nvSpPr>
        <p:spPr>
          <a:xfrm>
            <a:off x="11292840" y="6519672"/>
            <a:ext cx="457200" cy="182880"/>
          </a:xfrm>
          <a:prstGeom prst="rect">
            <a:avLst/>
          </a:prstGeom>
          <a:noFill/>
        </p:spPr>
        <p:txBody>
          <a:bodyPr wrap="square" anchor="ctr">
            <a:spAutoFit/>
          </a:bodyPr>
          <a:lstStyle/>
          <a:p>
            <a:pPr algn="r">
              <a:defRPr sz="900" b="1">
                <a:solidFill>
                  <a:srgbClr val="FFFFFF"/>
                </a:solidFill>
                <a:latin typeface="Segoe U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3035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731520"/>
            <a:ext cx="411480" cy="411480"/>
          </a:xfrm>
          <a:prstGeom prst="ellipse">
            <a:avLst/>
          </a:prstGeom>
          <a:solidFill>
            <a:srgbClr val="DC9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713232"/>
            <a:ext cx="6400800" cy="502920"/>
          </a:xfrm>
          <a:prstGeom prst="rect">
            <a:avLst/>
          </a:prstGeom>
          <a:noFill/>
        </p:spPr>
        <p:txBody>
          <a:bodyPr wrap="square" anchor="ctr">
            <a:spAutoFit/>
          </a:bodyPr>
          <a:lstStyle/>
          <a:p>
            <a:pPr algn="l">
              <a:defRPr sz="2400" b="1">
                <a:solidFill>
                  <a:srgbClr val="102A43"/>
                </a:solidFill>
                <a:latin typeface="Segoe UI"/>
              </a:defRPr>
            </a:pPr>
            <a:r>
              <a:t>Folder structure, key files, and APIs</a:t>
            </a:r>
          </a:p>
        </p:txBody>
      </p:sp>
      <p:sp>
        <p:nvSpPr>
          <p:cNvPr id="6" name="TextBox 5"/>
          <p:cNvSpPr txBox="1"/>
          <p:nvPr/>
        </p:nvSpPr>
        <p:spPr>
          <a:xfrm>
            <a:off x="640080" y="1133856"/>
            <a:ext cx="1188720" cy="256032"/>
          </a:xfrm>
          <a:prstGeom prst="rect">
            <a:avLst/>
          </a:prstGeom>
          <a:noFill/>
        </p:spPr>
        <p:txBody>
          <a:bodyPr wrap="square" anchor="ctr">
            <a:spAutoFit/>
          </a:bodyPr>
          <a:lstStyle/>
          <a:p>
            <a:pPr algn="l">
              <a:defRPr sz="1000" b="1">
                <a:solidFill>
                  <a:srgbClr val="288691"/>
                </a:solidFill>
                <a:latin typeface="Segoe UI"/>
              </a:defRPr>
            </a:pPr>
            <a:r>
              <a:t>Target 45s</a:t>
            </a:r>
          </a:p>
        </p:txBody>
      </p:sp>
      <p:sp>
        <p:nvSpPr>
          <p:cNvPr id="7" name="Rounded Rectangle 6"/>
          <p:cNvSpPr/>
          <p:nvPr/>
        </p:nvSpPr>
        <p:spPr>
          <a:xfrm>
            <a:off x="621792" y="1554480"/>
            <a:ext cx="4983480" cy="4343400"/>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t" wrap="square" lIns="164592" tIns="109728"/>
          <a:lstStyle/>
          <a:p>
            <a:pPr algn="l">
              <a:spcAft>
                <a:spcPts val="1000"/>
              </a:spcAft>
              <a:defRPr sz="1800">
                <a:solidFill>
                  <a:srgbClr val="3E4D5D"/>
                </a:solidFill>
                <a:latin typeface="Segoe UI"/>
              </a:defRPr>
            </a:pPr>
            <a:r>
              <a:t>backend/, frontend/, docs/, scripts/, tests/, and reports each have a focused role</a:t>
            </a:r>
          </a:p>
          <a:p>
            <a:pPr algn="l">
              <a:spcAft>
                <a:spcPts val="1000"/>
              </a:spcAft>
              <a:defRPr sz="1800">
                <a:solidFill>
                  <a:srgbClr val="3E4D5D"/>
                </a:solidFill>
                <a:latin typeface="Segoe UI"/>
              </a:defRPr>
            </a:pPr>
            <a:r>
              <a:t>App entrypoints stay small while App.tsx, the interpreter, and the repository carry the main product logic</a:t>
            </a:r>
          </a:p>
          <a:p>
            <a:pPr algn="l">
              <a:spcAft>
                <a:spcPts val="1000"/>
              </a:spcAft>
              <a:defRPr sz="1800">
                <a:solidFill>
                  <a:srgbClr val="3E4D5D"/>
                </a:solidFill>
                <a:latin typeface="Segoe UI"/>
              </a:defRPr>
            </a:pPr>
            <a:r>
              <a:t>The technical documentation lists every major API endpoint and its purpose</a:t>
            </a:r>
          </a:p>
        </p:txBody>
      </p:sp>
      <p:sp>
        <p:nvSpPr>
          <p:cNvPr id="8" name="Rounded Rectangle 7"/>
          <p:cNvSpPr/>
          <p:nvPr/>
        </p:nvSpPr>
        <p:spPr>
          <a:xfrm>
            <a:off x="5925312" y="1389888"/>
            <a:ext cx="5596128" cy="4553712"/>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roject-layout.png"/>
          <p:cNvPicPr>
            <a:picLocks noChangeAspect="1"/>
          </p:cNvPicPr>
          <p:nvPr/>
        </p:nvPicPr>
        <p:blipFill>
          <a:blip r:embed="rId2"/>
          <a:stretch>
            <a:fillRect/>
          </a:stretch>
        </p:blipFill>
        <p:spPr>
          <a:xfrm>
            <a:off x="5998464" y="1463040"/>
            <a:ext cx="5449824" cy="4078224"/>
          </a:xfrm>
          <a:prstGeom prst="rect">
            <a:avLst/>
          </a:prstGeom>
        </p:spPr>
      </p:pic>
      <p:sp>
        <p:nvSpPr>
          <p:cNvPr id="10" name="TextBox 9"/>
          <p:cNvSpPr txBox="1"/>
          <p:nvPr/>
        </p:nvSpPr>
        <p:spPr>
          <a:xfrm>
            <a:off x="6035040" y="5559552"/>
            <a:ext cx="5376672" cy="274320"/>
          </a:xfrm>
          <a:prstGeom prst="rect">
            <a:avLst/>
          </a:prstGeom>
          <a:noFill/>
        </p:spPr>
        <p:txBody>
          <a:bodyPr wrap="square" anchor="ctr">
            <a:spAutoFit/>
          </a:bodyPr>
          <a:lstStyle/>
          <a:p>
            <a:pPr algn="ctr">
              <a:defRPr sz="900" b="0">
                <a:solidFill>
                  <a:srgbClr val="3E4D5D"/>
                </a:solidFill>
                <a:latin typeface="Segoe UI"/>
              </a:defRPr>
            </a:pPr>
            <a:r>
              <a:t>Project layout overview</a:t>
            </a:r>
          </a:p>
        </p:txBody>
      </p:sp>
      <p:sp>
        <p:nvSpPr>
          <p:cNvPr id="11" name="Rectangle 10"/>
          <p:cNvSpPr/>
          <p:nvPr/>
        </p:nvSpPr>
        <p:spPr>
          <a:xfrm>
            <a:off x="0" y="6510528"/>
            <a:ext cx="12191695" cy="34747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519672"/>
            <a:ext cx="3657600" cy="182880"/>
          </a:xfrm>
          <a:prstGeom prst="rect">
            <a:avLst/>
          </a:prstGeom>
          <a:noFill/>
        </p:spPr>
        <p:txBody>
          <a:bodyPr wrap="square" anchor="ctr">
            <a:spAutoFit/>
          </a:bodyPr>
          <a:lstStyle/>
          <a:p>
            <a:pPr algn="l">
              <a:defRPr sz="900" b="0">
                <a:solidFill>
                  <a:srgbClr val="FFFFFF"/>
                </a:solidFill>
                <a:latin typeface="Segoe UI"/>
              </a:defRPr>
            </a:pPr>
            <a:r>
              <a:t>TaskBuddy documentation pack</a:t>
            </a:r>
          </a:p>
        </p:txBody>
      </p:sp>
      <p:sp>
        <p:nvSpPr>
          <p:cNvPr id="13" name="TextBox 12"/>
          <p:cNvSpPr txBox="1"/>
          <p:nvPr/>
        </p:nvSpPr>
        <p:spPr>
          <a:xfrm>
            <a:off x="11292840" y="6519672"/>
            <a:ext cx="457200" cy="182880"/>
          </a:xfrm>
          <a:prstGeom prst="rect">
            <a:avLst/>
          </a:prstGeom>
          <a:noFill/>
        </p:spPr>
        <p:txBody>
          <a:bodyPr wrap="square" anchor="ctr">
            <a:spAutoFit/>
          </a:bodyPr>
          <a:lstStyle/>
          <a:p>
            <a:pPr algn="r">
              <a:defRPr sz="900" b="1">
                <a:solidFill>
                  <a:srgbClr val="FFFFFF"/>
                </a:solidFill>
                <a:latin typeface="Segoe U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3035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731520"/>
            <a:ext cx="411480" cy="411480"/>
          </a:xfrm>
          <a:prstGeom prst="ellipse">
            <a:avLst/>
          </a:prstGeom>
          <a:solidFill>
            <a:srgbClr val="DC9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713232"/>
            <a:ext cx="6400800" cy="502920"/>
          </a:xfrm>
          <a:prstGeom prst="rect">
            <a:avLst/>
          </a:prstGeom>
          <a:noFill/>
        </p:spPr>
        <p:txBody>
          <a:bodyPr wrap="square" anchor="ctr">
            <a:spAutoFit/>
          </a:bodyPr>
          <a:lstStyle/>
          <a:p>
            <a:pPr algn="l">
              <a:defRPr sz="2400" b="1">
                <a:solidFill>
                  <a:srgbClr val="102A43"/>
                </a:solidFill>
                <a:latin typeface="Segoe UI"/>
              </a:defRPr>
            </a:pPr>
            <a:r>
              <a:t>Testing evidence and outputs</a:t>
            </a:r>
          </a:p>
        </p:txBody>
      </p:sp>
      <p:sp>
        <p:nvSpPr>
          <p:cNvPr id="6" name="TextBox 5"/>
          <p:cNvSpPr txBox="1"/>
          <p:nvPr/>
        </p:nvSpPr>
        <p:spPr>
          <a:xfrm>
            <a:off x="640080" y="1133856"/>
            <a:ext cx="1188720" cy="256032"/>
          </a:xfrm>
          <a:prstGeom prst="rect">
            <a:avLst/>
          </a:prstGeom>
          <a:noFill/>
        </p:spPr>
        <p:txBody>
          <a:bodyPr wrap="square" anchor="ctr">
            <a:spAutoFit/>
          </a:bodyPr>
          <a:lstStyle/>
          <a:p>
            <a:pPr algn="l">
              <a:defRPr sz="1000" b="1">
                <a:solidFill>
                  <a:srgbClr val="288691"/>
                </a:solidFill>
                <a:latin typeface="Segoe UI"/>
              </a:defRPr>
            </a:pPr>
            <a:r>
              <a:t>Target 25s</a:t>
            </a:r>
          </a:p>
        </p:txBody>
      </p:sp>
      <p:sp>
        <p:nvSpPr>
          <p:cNvPr id="7" name="Rounded Rectangle 6"/>
          <p:cNvSpPr/>
          <p:nvPr/>
        </p:nvSpPr>
        <p:spPr>
          <a:xfrm>
            <a:off x="621792" y="1554480"/>
            <a:ext cx="4983480" cy="4343400"/>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t" wrap="square" lIns="164592" tIns="109728"/>
          <a:lstStyle/>
          <a:p>
            <a:pPr algn="l">
              <a:spcAft>
                <a:spcPts val="1000"/>
              </a:spcAft>
              <a:defRPr sz="1800">
                <a:solidFill>
                  <a:srgbClr val="3E4D5D"/>
                </a:solidFill>
                <a:latin typeface="Segoe UI"/>
              </a:defRPr>
            </a:pPr>
            <a:r>
              <a:t>Backend and frontend tests generate JUnit XML outputs</a:t>
            </a:r>
          </a:p>
          <a:p>
            <a:pPr algn="l">
              <a:spcAft>
                <a:spcPts val="1000"/>
              </a:spcAft>
              <a:defRPr sz="1800">
                <a:solidFill>
                  <a:srgbClr val="3E4D5D"/>
                </a:solidFill>
                <a:latin typeface="Segoe UI"/>
              </a:defRPr>
            </a:pPr>
            <a:r>
              <a:t>The report exporter builds an HTML dashboard and Excel summary</a:t>
            </a:r>
          </a:p>
          <a:p>
            <a:pPr algn="l">
              <a:spcAft>
                <a:spcPts val="1000"/>
              </a:spcAft>
              <a:defRPr sz="1800">
                <a:solidFill>
                  <a:srgbClr val="3E4D5D"/>
                </a:solidFill>
                <a:latin typeface="Segoe UI"/>
              </a:defRPr>
            </a:pPr>
            <a:r>
              <a:t>The manual test plan and user guide complement automated checks</a:t>
            </a:r>
          </a:p>
        </p:txBody>
      </p:sp>
      <p:sp>
        <p:nvSpPr>
          <p:cNvPr id="8" name="Rounded Rectangle 7"/>
          <p:cNvSpPr/>
          <p:nvPr/>
        </p:nvSpPr>
        <p:spPr>
          <a:xfrm>
            <a:off x="5925312" y="1389888"/>
            <a:ext cx="5596128" cy="4553712"/>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est-evidence.png"/>
          <p:cNvPicPr>
            <a:picLocks noChangeAspect="1"/>
          </p:cNvPicPr>
          <p:nvPr/>
        </p:nvPicPr>
        <p:blipFill>
          <a:blip r:embed="rId2"/>
          <a:stretch>
            <a:fillRect/>
          </a:stretch>
        </p:blipFill>
        <p:spPr>
          <a:xfrm>
            <a:off x="5998464" y="1463040"/>
            <a:ext cx="5449824" cy="4078224"/>
          </a:xfrm>
          <a:prstGeom prst="rect">
            <a:avLst/>
          </a:prstGeom>
        </p:spPr>
      </p:pic>
      <p:sp>
        <p:nvSpPr>
          <p:cNvPr id="10" name="TextBox 9"/>
          <p:cNvSpPr txBox="1"/>
          <p:nvPr/>
        </p:nvSpPr>
        <p:spPr>
          <a:xfrm>
            <a:off x="6035040" y="5559552"/>
            <a:ext cx="5376672" cy="274320"/>
          </a:xfrm>
          <a:prstGeom prst="rect">
            <a:avLst/>
          </a:prstGeom>
          <a:noFill/>
        </p:spPr>
        <p:txBody>
          <a:bodyPr wrap="square" anchor="ctr">
            <a:spAutoFit/>
          </a:bodyPr>
          <a:lstStyle/>
          <a:p>
            <a:pPr algn="ctr">
              <a:defRPr sz="900" b="0">
                <a:solidFill>
                  <a:srgbClr val="3E4D5D"/>
                </a:solidFill>
                <a:latin typeface="Segoe UI"/>
              </a:defRPr>
            </a:pPr>
            <a:r>
              <a:t>Testing evidence summary</a:t>
            </a:r>
          </a:p>
        </p:txBody>
      </p:sp>
      <p:sp>
        <p:nvSpPr>
          <p:cNvPr id="11" name="Rectangle 10"/>
          <p:cNvSpPr/>
          <p:nvPr/>
        </p:nvSpPr>
        <p:spPr>
          <a:xfrm>
            <a:off x="0" y="6510528"/>
            <a:ext cx="12191695" cy="34747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519672"/>
            <a:ext cx="3657600" cy="182880"/>
          </a:xfrm>
          <a:prstGeom prst="rect">
            <a:avLst/>
          </a:prstGeom>
          <a:noFill/>
        </p:spPr>
        <p:txBody>
          <a:bodyPr wrap="square" anchor="ctr">
            <a:spAutoFit/>
          </a:bodyPr>
          <a:lstStyle/>
          <a:p>
            <a:pPr algn="l">
              <a:defRPr sz="900" b="0">
                <a:solidFill>
                  <a:srgbClr val="FFFFFF"/>
                </a:solidFill>
                <a:latin typeface="Segoe UI"/>
              </a:defRPr>
            </a:pPr>
            <a:r>
              <a:t>TaskBuddy documentation pack</a:t>
            </a:r>
          </a:p>
        </p:txBody>
      </p:sp>
      <p:sp>
        <p:nvSpPr>
          <p:cNvPr id="13" name="TextBox 12"/>
          <p:cNvSpPr txBox="1"/>
          <p:nvPr/>
        </p:nvSpPr>
        <p:spPr>
          <a:xfrm>
            <a:off x="11292840" y="6519672"/>
            <a:ext cx="457200" cy="182880"/>
          </a:xfrm>
          <a:prstGeom prst="rect">
            <a:avLst/>
          </a:prstGeom>
          <a:noFill/>
        </p:spPr>
        <p:txBody>
          <a:bodyPr wrap="square" anchor="ctr">
            <a:spAutoFit/>
          </a:bodyPr>
          <a:lstStyle/>
          <a:p>
            <a:pPr algn="r">
              <a:defRPr sz="900" b="1">
                <a:solidFill>
                  <a:srgbClr val="FFFFFF"/>
                </a:solidFill>
                <a:latin typeface="Segoe U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3035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731520"/>
            <a:ext cx="411480" cy="411480"/>
          </a:xfrm>
          <a:prstGeom prst="ellipse">
            <a:avLst/>
          </a:prstGeom>
          <a:solidFill>
            <a:srgbClr val="DC9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713232"/>
            <a:ext cx="6400800" cy="502920"/>
          </a:xfrm>
          <a:prstGeom prst="rect">
            <a:avLst/>
          </a:prstGeom>
          <a:noFill/>
        </p:spPr>
        <p:txBody>
          <a:bodyPr wrap="square" anchor="ctr">
            <a:spAutoFit/>
          </a:bodyPr>
          <a:lstStyle/>
          <a:p>
            <a:pPr algn="l">
              <a:defRPr sz="2400" b="1">
                <a:solidFill>
                  <a:srgbClr val="102A43"/>
                </a:solidFill>
                <a:latin typeface="Segoe UI"/>
              </a:defRPr>
            </a:pPr>
            <a:r>
              <a:t>Limits and next improvements</a:t>
            </a:r>
          </a:p>
        </p:txBody>
      </p:sp>
      <p:sp>
        <p:nvSpPr>
          <p:cNvPr id="6" name="TextBox 5"/>
          <p:cNvSpPr txBox="1"/>
          <p:nvPr/>
        </p:nvSpPr>
        <p:spPr>
          <a:xfrm>
            <a:off x="640080" y="1133856"/>
            <a:ext cx="1188720" cy="256032"/>
          </a:xfrm>
          <a:prstGeom prst="rect">
            <a:avLst/>
          </a:prstGeom>
          <a:noFill/>
        </p:spPr>
        <p:txBody>
          <a:bodyPr wrap="square" anchor="ctr">
            <a:spAutoFit/>
          </a:bodyPr>
          <a:lstStyle/>
          <a:p>
            <a:pPr algn="l">
              <a:defRPr sz="1000" b="1">
                <a:solidFill>
                  <a:srgbClr val="288691"/>
                </a:solidFill>
                <a:latin typeface="Segoe UI"/>
              </a:defRPr>
            </a:pPr>
            <a:r>
              <a:t>Target 20s</a:t>
            </a:r>
          </a:p>
        </p:txBody>
      </p:sp>
      <p:sp>
        <p:nvSpPr>
          <p:cNvPr id="7" name="Rounded Rectangle 6"/>
          <p:cNvSpPr/>
          <p:nvPr/>
        </p:nvSpPr>
        <p:spPr>
          <a:xfrm>
            <a:off x="621792" y="1554480"/>
            <a:ext cx="4983480" cy="4343400"/>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t" wrap="square" lIns="164592" tIns="109728"/>
          <a:lstStyle/>
          <a:p>
            <a:pPr algn="l">
              <a:spcAft>
                <a:spcPts val="1000"/>
              </a:spcAft>
              <a:defRPr sz="1800">
                <a:solidFill>
                  <a:srgbClr val="3E4D5D"/>
                </a:solidFill>
                <a:latin typeface="Segoe UI"/>
              </a:defRPr>
            </a:pPr>
            <a:r>
              <a:t>Current limits are documented in the README and technical guide</a:t>
            </a:r>
          </a:p>
          <a:p>
            <a:pPr algn="l">
              <a:spcAft>
                <a:spcPts val="1000"/>
              </a:spcAft>
              <a:defRPr sz="1800">
                <a:solidFill>
                  <a:srgbClr val="3E4D5D"/>
                </a:solidFill>
                <a:latin typeface="Segoe UI"/>
              </a:defRPr>
            </a:pPr>
            <a:r>
              <a:t>The next technical improvements are model refinement, richer semantics, and more end-to-end automation</a:t>
            </a:r>
          </a:p>
          <a:p>
            <a:pPr algn="l">
              <a:spcAft>
                <a:spcPts val="1000"/>
              </a:spcAft>
              <a:defRPr sz="1800">
                <a:solidFill>
                  <a:srgbClr val="3E4D5D"/>
                </a:solidFill>
                <a:latin typeface="Segoe UI"/>
              </a:defRPr>
            </a:pPr>
            <a:r>
              <a:t>The documentation pack is reproducible without touching the runtime environment</a:t>
            </a:r>
          </a:p>
        </p:txBody>
      </p:sp>
      <p:sp>
        <p:nvSpPr>
          <p:cNvPr id="8" name="Rounded Rectangle 7"/>
          <p:cNvSpPr/>
          <p:nvPr/>
        </p:nvSpPr>
        <p:spPr>
          <a:xfrm>
            <a:off x="5925312" y="1389888"/>
            <a:ext cx="5596128" cy="4553712"/>
          </a:xfrm>
          <a:prstGeom prst="roundRect">
            <a:avLst/>
          </a:prstGeom>
          <a:solidFill>
            <a:srgbClr val="FFFFFF"/>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quest-lifecycle.png"/>
          <p:cNvPicPr>
            <a:picLocks noChangeAspect="1"/>
          </p:cNvPicPr>
          <p:nvPr/>
        </p:nvPicPr>
        <p:blipFill>
          <a:blip r:embed="rId2"/>
          <a:stretch>
            <a:fillRect/>
          </a:stretch>
        </p:blipFill>
        <p:spPr>
          <a:xfrm>
            <a:off x="5998464" y="1463040"/>
            <a:ext cx="5449824" cy="4078224"/>
          </a:xfrm>
          <a:prstGeom prst="rect">
            <a:avLst/>
          </a:prstGeom>
        </p:spPr>
      </p:pic>
      <p:sp>
        <p:nvSpPr>
          <p:cNvPr id="10" name="TextBox 9"/>
          <p:cNvSpPr txBox="1"/>
          <p:nvPr/>
        </p:nvSpPr>
        <p:spPr>
          <a:xfrm>
            <a:off x="6035040" y="5559552"/>
            <a:ext cx="5376672" cy="274320"/>
          </a:xfrm>
          <a:prstGeom prst="rect">
            <a:avLst/>
          </a:prstGeom>
          <a:noFill/>
        </p:spPr>
        <p:txBody>
          <a:bodyPr wrap="square" anchor="ctr">
            <a:spAutoFit/>
          </a:bodyPr>
          <a:lstStyle/>
          <a:p>
            <a:pPr algn="ctr">
              <a:defRPr sz="900" b="0">
                <a:solidFill>
                  <a:srgbClr val="3E4D5D"/>
                </a:solidFill>
                <a:latin typeface="Segoe UI"/>
              </a:defRPr>
            </a:pPr>
            <a:r>
              <a:t>Request lifecycle</a:t>
            </a:r>
          </a:p>
        </p:txBody>
      </p:sp>
      <p:sp>
        <p:nvSpPr>
          <p:cNvPr id="11" name="Rectangle 10"/>
          <p:cNvSpPr/>
          <p:nvPr/>
        </p:nvSpPr>
        <p:spPr>
          <a:xfrm>
            <a:off x="0" y="6510528"/>
            <a:ext cx="12191695" cy="34747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519672"/>
            <a:ext cx="3657600" cy="182880"/>
          </a:xfrm>
          <a:prstGeom prst="rect">
            <a:avLst/>
          </a:prstGeom>
          <a:noFill/>
        </p:spPr>
        <p:txBody>
          <a:bodyPr wrap="square" anchor="ctr">
            <a:spAutoFit/>
          </a:bodyPr>
          <a:lstStyle/>
          <a:p>
            <a:pPr algn="l">
              <a:defRPr sz="900" b="0">
                <a:solidFill>
                  <a:srgbClr val="FFFFFF"/>
                </a:solidFill>
                <a:latin typeface="Segoe UI"/>
              </a:defRPr>
            </a:pPr>
            <a:r>
              <a:t>TaskBuddy documentation pack</a:t>
            </a:r>
          </a:p>
        </p:txBody>
      </p:sp>
      <p:sp>
        <p:nvSpPr>
          <p:cNvPr id="13" name="TextBox 12"/>
          <p:cNvSpPr txBox="1"/>
          <p:nvPr/>
        </p:nvSpPr>
        <p:spPr>
          <a:xfrm>
            <a:off x="11292840" y="6519672"/>
            <a:ext cx="457200" cy="182880"/>
          </a:xfrm>
          <a:prstGeom prst="rect">
            <a:avLst/>
          </a:prstGeom>
          <a:noFill/>
        </p:spPr>
        <p:txBody>
          <a:bodyPr wrap="square" anchor="ctr">
            <a:spAutoFit/>
          </a:bodyPr>
          <a:lstStyle/>
          <a:p>
            <a:pPr algn="r">
              <a:defRPr sz="900" b="1">
                <a:solidFill>
                  <a:srgbClr val="FFFFFF"/>
                </a:solidFill>
                <a:latin typeface="Segoe UI"/>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